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71" r:id="rId7"/>
    <p:sldId id="262" r:id="rId8"/>
    <p:sldId id="263" r:id="rId9"/>
    <p:sldId id="264" r:id="rId10"/>
    <p:sldId id="265" r:id="rId11"/>
    <p:sldId id="268" r:id="rId12"/>
    <p:sldId id="269" r:id="rId13"/>
    <p:sldId id="270" r:id="rId14"/>
  </p:sldIdLst>
  <p:sldSz cx="12192000" cy="6858000"/>
  <p:notesSz cx="6858000" cy="9144000"/>
  <p:embeddedFontLs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Work Sans" pitchFamily="2" charset="0"/>
      <p:regular r:id="rId20"/>
      <p:bold r:id="rId21"/>
      <p:italic r:id="rId22"/>
      <p:boldItalic r:id="rId23"/>
    </p:embeddedFont>
    <p:embeddedFont>
      <p:font typeface="Work Sans SemiBold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82" autoAdjust="0"/>
  </p:normalViewPr>
  <p:slideViewPr>
    <p:cSldViewPr snapToGrid="0">
      <p:cViewPr>
        <p:scale>
          <a:sx n="106" d="100"/>
          <a:sy n="106" d="100"/>
        </p:scale>
        <p:origin x="756" y="-252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0e628cec1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0" name="Google Shape;210;g3f0e628cec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0e628cec1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7" name="Google Shape;247;g3f0e628cec1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3914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0e628cec1_0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84" name="Google Shape;284;g3f0e628cec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0e628cec1_0_2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f0e628cec1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0e628cec1_0_4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62" name="Google Shape;362;g3f0e628cec1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0e628cec1_0_5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05" name="Google Shape;405;g3f0e628cec1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0e628cec1_0_7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O" dirty="0"/>
              <a:t>	</a:t>
            </a:r>
            <a:endParaRPr dirty="0"/>
          </a:p>
        </p:txBody>
      </p:sp>
      <p:sp>
        <p:nvSpPr>
          <p:cNvPr id="461" name="Google Shape;461;g3f0e628cec1_0_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0e628cec1_0_7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5" name="Google Shape;485;g3f0e628cec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2" name="Google Shape;5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1061317" y="328277"/>
            <a:ext cx="10298758" cy="3490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Bef>
                <a:spcPts val="16940"/>
              </a:spcBef>
              <a:buClr>
                <a:schemeClr val="accent5"/>
              </a:buClr>
              <a:buSzPts val="1100"/>
            </a:pPr>
            <a:r>
              <a:rPr lang="es-CO" sz="4000" b="1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Sedada – Software para Gestión Integral de Restaurantes</a:t>
            </a:r>
            <a:endParaRPr sz="40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O" sz="1000" b="1" i="0" u="none" strike="noStrike" cap="non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sz="1000" b="1" i="0" u="none" strike="noStrike" cap="non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82000" y="3789375"/>
            <a:ext cx="45825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Sebastián Herrera Garces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Luis David Yate Pulido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Juan David Ospina Villalobo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Agenda de la sustentación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48640" y="1691640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13232" y="1856232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5" descr="icons/bullsey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369" y="198936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1371600" y="1801368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Resumen y objetivos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371600" y="2112264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Qué es SEDADA y qué buscamos lograr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012180" y="1691640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176772" y="1856232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15" descr="icons/warni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09909" y="198936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6835140" y="1801368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Problema y justificación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835140" y="2112264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Necesidades operativas del restaurante y justificación del sistema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48640" y="2734056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13232" y="2898648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15" descr="icons/rou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6369" y="30317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1371600" y="2843784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Alcance y metodología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371600" y="3154680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Delimitación del proyecto y marco de trabajo Scrum</a:t>
            </a:r>
            <a:r>
              <a:rPr lang="es-CO" sz="110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012180" y="2734056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176772" y="2898648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15" descr="icons/clipboar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9909" y="30317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/>
          <p:nvPr/>
        </p:nvSpPr>
        <p:spPr>
          <a:xfrm>
            <a:off x="6835140" y="2843784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Requerimientos (IEEE 830)</a:t>
            </a:r>
            <a:endParaRPr sz="15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835140" y="3154680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Levantamiento de datos, requerimientos funcionales y no funcionales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48640" y="3776472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713232" y="3941064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15" descr="icons/layer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6369" y="407420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/>
          <p:nvPr/>
        </p:nvSpPr>
        <p:spPr>
          <a:xfrm>
            <a:off x="1371600" y="3886200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Arquitectura y stack</a:t>
            </a:r>
            <a:endParaRPr sz="15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1371600" y="41970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12180" y="3776472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176772" y="3941064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15" descr="icons/window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09909" y="407420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6835140" y="3886200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Interfaz y demo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835140" y="41970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Mapa de navegación y recorrido funcional por el aplicativo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48640" y="4818888"/>
            <a:ext cx="5143500" cy="841200"/>
          </a:xfrm>
          <a:prstGeom prst="roundRect">
            <a:avLst>
              <a:gd name="adj" fmla="val 869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13232" y="4983480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15" descr="icons/flask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6369" y="511661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1371600" y="4928616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Pruebas y conclusiones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371600" y="5239512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Entorno de pruebas, cumplimiento de objetivos y conclusiones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2;p15">
            <a:extLst>
              <a:ext uri="{FF2B5EF4-FFF2-40B4-BE49-F238E27FC236}">
                <a16:creationId xmlns:a16="http://schemas.microsoft.com/office/drawing/2014/main" id="{E6C44DFC-CCFF-8314-EEE0-CB178F2DD668}"/>
              </a:ext>
            </a:extLst>
          </p:cNvPr>
          <p:cNvSpPr/>
          <p:nvPr/>
        </p:nvSpPr>
        <p:spPr>
          <a:xfrm>
            <a:off x="1371600" y="41604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s-CO" sz="110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Diseño de sistema, modelado de datos y tecnologías utilizadas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540905" y="774069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 dirty="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¿De que se trata Sedada?</a:t>
            </a:r>
            <a:endParaRPr sz="3600" b="1" dirty="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41015" y="1728213"/>
            <a:ext cx="59436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2292E"/>
              </a:buClr>
              <a:buSzPts val="1450"/>
            </a:pPr>
            <a:r>
              <a:rPr lang="es-CO" sz="14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SEDADA</a:t>
            </a:r>
            <a:r>
              <a:rPr lang="es-CO" sz="14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 una plataforma web diseñada para la gestión integral y el control de los procesos operativos de un restaurante. Facilita la operación diaria de administradores, meseros y cajeros, optimizando el servicio y la atención al cliente.</a:t>
            </a:r>
            <a:endParaRPr lang="es-ES" sz="14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41015" y="2825493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El sistema permite: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41015" y="3236973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16" descr="icons/windo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358" y="3327316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978611" y="4773141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2292E"/>
              </a:buClr>
              <a:buSzPts val="1250"/>
            </a:pPr>
            <a:r>
              <a:rPr lang="es-CO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Generar facturación</a:t>
            </a:r>
            <a:r>
              <a:rPr lang="es-CO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control de pagos.</a:t>
            </a:r>
            <a:endParaRPr sz="12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41015" y="3749037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16" descr="icons/filt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358" y="3839380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/>
          <p:nvPr/>
        </p:nvSpPr>
        <p:spPr>
          <a:xfrm>
            <a:off x="1014178" y="3742965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2292E"/>
              </a:buClr>
              <a:buSzPts val="1250"/>
            </a:pPr>
            <a:r>
              <a:rPr lang="es-CO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Administrar mesas</a:t>
            </a:r>
            <a:r>
              <a:rPr lang="es-CO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sus estados</a:t>
            </a:r>
            <a:endParaRPr sz="12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41015" y="4285485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16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358" y="4375828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/>
          <p:nvPr/>
        </p:nvSpPr>
        <p:spPr>
          <a:xfrm>
            <a:off x="1043935" y="4258053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2292E"/>
              </a:buClr>
              <a:buSzPts val="1250"/>
            </a:pPr>
            <a:r>
              <a:rPr lang="es-CO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Gestionar productos y categorías</a:t>
            </a:r>
            <a:r>
              <a:rPr lang="es-CO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menú. </a:t>
            </a:r>
            <a:r>
              <a:rPr lang="es-CO" sz="1250" b="0" i="0" u="none" strike="noStrike" cap="none" dirty="0">
                <a:solidFill>
                  <a:srgbClr val="2229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endParaRPr sz="12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895985" y="1394396"/>
            <a:ext cx="4755000" cy="4617600"/>
          </a:xfrm>
          <a:prstGeom prst="roundRect">
            <a:avLst>
              <a:gd name="adj" fmla="val 1584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16"/>
          <p:cNvSpPr/>
          <p:nvPr/>
        </p:nvSpPr>
        <p:spPr>
          <a:xfrm>
            <a:off x="7216135" y="1956813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STACK PRINCIPAL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7216135" y="2414013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16" descr="icons/cod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46894" y="2544772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7901935" y="241401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7901935" y="2679189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JSP, CSS, BOOTSTRAP 5.3.3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7216135" y="3200396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16" descr="icons/server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46894" y="333115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7901935" y="3200396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7901935" y="346557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JAVA, JAKARTA SERVLETS, Patron DAO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7216135" y="3986781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16" descr="icons/databas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46894" y="4117540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7901935" y="398678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7901935" y="4251957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PostgreSQL (Supabase)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7216135" y="4773165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16" descr="icons/clou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46894" y="4903924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7901935" y="477316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 externos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7901935" y="503834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GlassFish/Apache Tomcat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5;p16">
            <a:extLst>
              <a:ext uri="{FF2B5EF4-FFF2-40B4-BE49-F238E27FC236}">
                <a16:creationId xmlns:a16="http://schemas.microsoft.com/office/drawing/2014/main" id="{54D859BC-BB90-60C6-5756-0E86C9CC5BF4}"/>
              </a:ext>
            </a:extLst>
          </p:cNvPr>
          <p:cNvSpPr/>
          <p:nvPr/>
        </p:nvSpPr>
        <p:spPr>
          <a:xfrm>
            <a:off x="540905" y="4774278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155;p16" descr="icons/cart.png">
            <a:extLst>
              <a:ext uri="{FF2B5EF4-FFF2-40B4-BE49-F238E27FC236}">
                <a16:creationId xmlns:a16="http://schemas.microsoft.com/office/drawing/2014/main" id="{299A412D-67E9-55A3-C365-5C53FA6F464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211" y="4861303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76FDDCC-EBEC-28D4-7DEC-8A118FE7FD69}"/>
              </a:ext>
            </a:extLst>
          </p:cNvPr>
          <p:cNvSpPr txBox="1"/>
          <p:nvPr/>
        </p:nvSpPr>
        <p:spPr>
          <a:xfrm>
            <a:off x="939023" y="3250727"/>
            <a:ext cx="30348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Registrar y gestionar pedidos</a:t>
            </a:r>
            <a:r>
              <a:rPr lang="es-CO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 tiempo real.</a:t>
            </a:r>
            <a:endParaRPr lang="es-CO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861175" y="343646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 dirty="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sz="3600" b="1" dirty="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970723" y="151431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manual e informal: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935975" y="1645920"/>
            <a:ext cx="5715000" cy="4480500"/>
          </a:xfrm>
          <a:prstGeom prst="roundRect">
            <a:avLst>
              <a:gd name="adj" fmla="val 1633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6256015" y="1920240"/>
            <a:ext cx="548700" cy="5487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17" descr="icons/lea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8661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/>
          <p:nvPr/>
        </p:nvSpPr>
        <p:spPr>
          <a:xfrm>
            <a:off x="6941815" y="1993392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Problema ambiental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256015" y="2606040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es-CO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operación tradicional basada en comandas impresas, recibos físicos y control manual genera un alto impacto ambiental por consumo innecesario de papel. Asimismo, los errores de digitación en cocina provocan la pérdida de platillos y desperdicio de alimentos.</a:t>
            </a:r>
          </a:p>
          <a:p>
            <a:pPr lvl="0">
              <a:buClr>
                <a:srgbClr val="22292E"/>
              </a:buClr>
              <a:buSzPts val="1250"/>
            </a:pP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6256015" y="3611880"/>
            <a:ext cx="5120700" cy="2331600"/>
          </a:xfrm>
          <a:prstGeom prst="roundRect">
            <a:avLst>
              <a:gd name="adj" fmla="val 3137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6530335" y="379476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SOLUCIÓN PROPUESTA: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6530335" y="3675888"/>
            <a:ext cx="4695384" cy="2130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300"/>
            </a:pPr>
            <a:r>
              <a:rPr lang="es-CO" sz="1200" dirty="0">
                <a:solidFill>
                  <a:schemeClr val="bg1"/>
                </a:solidFill>
              </a:rPr>
              <a:t>SEDADA Digitaliza el flujo completo de comandas, menú y facturación directamente en dispositivos móviles y web, reduciendo drásticamente la huella de papel del restaurante y optimizando los pedidos para minimizar la merma de alimentos. </a:t>
            </a:r>
            <a:endParaRPr lang="es-ES" sz="1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828970A-1D6A-8155-E2DC-6D3F1AD7F48A}"/>
              </a:ext>
            </a:extLst>
          </p:cNvPr>
          <p:cNvSpPr txBox="1"/>
          <p:nvPr/>
        </p:nvSpPr>
        <p:spPr>
          <a:xfrm>
            <a:off x="541026" y="2152892"/>
            <a:ext cx="430876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b="1" dirty="0"/>
              <a:t>Lentitud y errores:</a:t>
            </a:r>
            <a:r>
              <a:rPr lang="es-CO" dirty="0"/>
              <a:t> Retrasos en el registro y modificación de pedidos durante la atención.</a:t>
            </a:r>
          </a:p>
          <a:p>
            <a:pPr lvl="0"/>
            <a:endParaRPr lang="es-CO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b="1" dirty="0"/>
              <a:t>Falta de comunicación interna:</a:t>
            </a:r>
            <a:r>
              <a:rPr lang="es-CO" dirty="0"/>
              <a:t> Dificultad para coordinar la información entre meseros, caja y administración.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CO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b="1" dirty="0"/>
              <a:t>Limitación en actualización:</a:t>
            </a:r>
            <a:r>
              <a:rPr lang="es-CO" dirty="0"/>
              <a:t> Dificultad para modificar precios, productos y la disponibilidad del menú en tiempo real.</a:t>
            </a:r>
          </a:p>
          <a:p>
            <a:pPr lvl="0"/>
            <a:endParaRPr lang="es-CO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O" b="1" dirty="0"/>
              <a:t>Desorganización operativa:</a:t>
            </a:r>
            <a:r>
              <a:rPr lang="es-CO" dirty="0"/>
              <a:t> Complicaciones en el control de mesas, seguimiento del estado de los pedidos y facturación.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¿POR QUÉ ESTE PROYECTO?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2292E"/>
              </a:buClr>
              <a:buSzPts val="1400"/>
            </a:pPr>
            <a:r>
              <a:rPr lang="es-CO" dirty="0"/>
              <a:t>La implementación de </a:t>
            </a:r>
            <a:r>
              <a:rPr lang="es-CO" b="1" dirty="0"/>
              <a:t>SEDADA</a:t>
            </a:r>
            <a:r>
              <a:rPr lang="es-CO" dirty="0"/>
              <a:t> se justifica en la necesidad de modernizar y estandarizar la operación gastronómica del restaurante. Al digitalizar el flujo operativo, se elimina la dependencia de comandas físicas, se automatiza la comunicación con la cocina, se agiliza la facturación y se le proporciona a la administración un control centralizado de las operaciones en tiempo real.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48640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2011680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18" descr="icons/cog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9081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685800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Integral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85800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Control unificado de usuarios, productos mesas y facturación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334256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797296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18" descr="icons/chec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4697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/>
          <p:nvPr/>
        </p:nvSpPr>
        <p:spPr>
          <a:xfrm>
            <a:off x="4471416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Reducción de errores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4471416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Minimización de fallos manuales en comandas y cobros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8119872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9582912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7" name="Google Shape;227;p18" descr="icons/mob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30313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8257032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Compatibilidad Multidispositivo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8257032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Acceso desde computadores, tablets y celulares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548640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2011680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18" descr="icons/leaf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9081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/>
          <p:nvPr/>
        </p:nvSpPr>
        <p:spPr>
          <a:xfrm>
            <a:off x="685800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Sostenibilidad</a:t>
            </a:r>
            <a:r>
              <a:rPr lang="es-CO" sz="13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 ambiental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685800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Digitalización de comandas (Estrategia “Cero Papel”) 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4334256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5797296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18" descr="icons/chart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4697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/>
          <p:nvPr/>
        </p:nvSpPr>
        <p:spPr>
          <a:xfrm>
            <a:off x="4471416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Control Operativo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471416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Seguimiento de estados de pedidos y caja en tiempo real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8119872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9582912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18" descr="icons/shiel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0313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/>
          <p:nvPr/>
        </p:nvSpPr>
        <p:spPr>
          <a:xfrm>
            <a:off x="8257032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Calidad del Servicio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8257032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Tiempos de atención mas rápidos e información transparente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METAS DEL PROYECTO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48640" y="1481388"/>
            <a:ext cx="10607100" cy="1216032"/>
          </a:xfrm>
          <a:prstGeom prst="roundRect">
            <a:avLst>
              <a:gd name="adj" fmla="val 6957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868680" y="187452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19" descr="icons/bullsey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14" y="20290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/>
          <p:nvPr/>
        </p:nvSpPr>
        <p:spPr>
          <a:xfrm>
            <a:off x="1638605" y="1605215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6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645920" y="1970975"/>
            <a:ext cx="92355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250"/>
            </a:pPr>
            <a:r>
              <a:rPr lang="es-CO" dirty="0">
                <a:solidFill>
                  <a:schemeClr val="bg1"/>
                </a:solidFill>
              </a:rPr>
              <a:t>Diseñar e implementar un sistema web que permita optimizar y automatizar los procesos operativos y administrativos de un restaurante, mejorando la organización del servicio, el control de la información y la eficiencia en la atención al cliente. </a:t>
            </a:r>
            <a:endParaRPr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548640" y="292608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548640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1300277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19" descr="icons/clipboar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19149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/>
          <p:nvPr/>
        </p:nvSpPr>
        <p:spPr>
          <a:xfrm>
            <a:off x="640080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Analizar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58368" y="4467828"/>
            <a:ext cx="1740900" cy="927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50" b="1" dirty="0"/>
              <a:t>Analizar</a:t>
            </a:r>
            <a:r>
              <a:rPr lang="es-CO" sz="1050" dirty="0"/>
              <a:t> los procesos operativos del restaurante para identificar las necesidades y requerimientos del sistema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2710282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19"/>
          <p:cNvSpPr/>
          <p:nvPr/>
        </p:nvSpPr>
        <p:spPr>
          <a:xfrm>
            <a:off x="3461918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" name="Google Shape;264;p19" descr="icons/boxe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079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/>
          <p:nvPr/>
        </p:nvSpPr>
        <p:spPr>
          <a:xfrm>
            <a:off x="2801722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iseñar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2820010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50" b="1" dirty="0"/>
              <a:t>Diseñar</a:t>
            </a:r>
            <a:r>
              <a:rPr lang="es-CO" sz="1050" dirty="0"/>
              <a:t> la arquitectura, base de datos y módulos del sistema web de acuerdo con las especificaciones</a:t>
            </a:r>
            <a:endParaRPr lang="es-ES" sz="1050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4871923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8" name="Google Shape;268;p19"/>
          <p:cNvSpPr/>
          <p:nvPr/>
        </p:nvSpPr>
        <p:spPr>
          <a:xfrm>
            <a:off x="5623560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19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42432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9"/>
          <p:cNvSpPr/>
          <p:nvPr/>
        </p:nvSpPr>
        <p:spPr>
          <a:xfrm>
            <a:off x="4963363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Desarrollar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4981651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50" b="1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Desarrollar</a:t>
            </a:r>
            <a:r>
              <a:rPr lang="es-CO" sz="1050" dirty="0"/>
              <a:t> los módulos funcionales para la gestión de usuarios, productos, mesas, pedidos y facturación</a:t>
            </a:r>
            <a:endParaRPr lang="es-ES" sz="1050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7033565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7785202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19" descr="icons/mobil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4074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9"/>
          <p:cNvSpPr/>
          <p:nvPr/>
        </p:nvSpPr>
        <p:spPr>
          <a:xfrm>
            <a:off x="7125005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Implementar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7143293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50" b="1" dirty="0"/>
              <a:t>Implementar</a:t>
            </a:r>
            <a:r>
              <a:rPr lang="es-CO" sz="1050" dirty="0"/>
              <a:t> una interfaz web intuitiva y responsive que facilite el trabajo de meseros, cajeros y administradores</a:t>
            </a:r>
            <a:endParaRPr sz="1050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9195206" y="3337560"/>
            <a:ext cx="196050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19"/>
          <p:cNvSpPr/>
          <p:nvPr/>
        </p:nvSpPr>
        <p:spPr>
          <a:xfrm>
            <a:off x="9946843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9" name="Google Shape;279;p19" descr="icons/leaf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65715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9"/>
          <p:cNvSpPr/>
          <p:nvPr/>
        </p:nvSpPr>
        <p:spPr>
          <a:xfrm>
            <a:off x="9286646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Evaluar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9304934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endParaRPr lang="es-ES" sz="1050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76;p19">
            <a:extLst>
              <a:ext uri="{FF2B5EF4-FFF2-40B4-BE49-F238E27FC236}">
                <a16:creationId xmlns:a16="http://schemas.microsoft.com/office/drawing/2014/main" id="{DBF1810A-0CBD-EF8D-D393-9829AEE3BEA6}"/>
              </a:ext>
            </a:extLst>
          </p:cNvPr>
          <p:cNvSpPr/>
          <p:nvPr/>
        </p:nvSpPr>
        <p:spPr>
          <a:xfrm>
            <a:off x="9314090" y="461754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SzPts val="1400"/>
              <a:defRPr/>
            </a:pPr>
            <a:r>
              <a:rPr lang="es-CO" sz="1050" b="1" dirty="0"/>
              <a:t>Evaluar</a:t>
            </a:r>
            <a:r>
              <a:rPr lang="es-CO" sz="1050" dirty="0"/>
              <a:t> y probar el funcionamiento del aplicativo para garantizar la integridad de los datos y la calidad del software.</a:t>
            </a:r>
            <a:endParaRPr lang="es-CO" sz="1050" b="1" dirty="0">
              <a:solidFill>
                <a:srgbClr val="003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586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DELIMITACIÓN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 del proyecto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548640" y="1645920"/>
            <a:ext cx="338340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86868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0" name="Google Shape;290;p20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32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/>
          <p:nvPr/>
        </p:nvSpPr>
        <p:spPr>
          <a:xfrm>
            <a:off x="1554480" y="1993392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Mesero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86868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Autenticación e inicio/cierre de sesión seguro.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868680" y="3227832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Visualización y control de estados de mesas (Libre / Ocupada / Reservada). 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868680" y="38496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Toma, modificación y envió de pedidos al cajero.</a:t>
            </a:r>
            <a:endParaRPr sz="115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868680" y="44714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 interactiva del catalogo de productos y menú.</a:t>
            </a:r>
            <a:endParaRPr sz="115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868680" y="50932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Seguimiento en tiempo real del estado de los pedidos.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160520" y="1645920"/>
            <a:ext cx="338340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448056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20" descr="icons/cog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2320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5166360" y="1993392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Cajero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448056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Autenticación e inicio/cierre de sesión seguro.</a:t>
            </a:r>
            <a:endParaRPr sz="115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4480560" y="3227832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 de pedidos listos para facturación.</a:t>
            </a:r>
            <a:endParaRPr sz="115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4480560" y="38496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Generación de facturas y cierre de cuentas de mesa. </a:t>
            </a:r>
            <a:endParaRPr sz="115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4480560" y="44714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Registro de métodos de pago (Efectivo, Tarjera, etc.)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4480560" y="50932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Generación de reportes de ventas y resumen de caja.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7772400" y="1645920"/>
            <a:ext cx="3931800" cy="4480500"/>
          </a:xfrm>
          <a:prstGeom prst="roundRect">
            <a:avLst>
              <a:gd name="adj" fmla="val 186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8092440" y="1920240"/>
            <a:ext cx="548700" cy="5487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8" name="Google Shape;308;p20" descr="icons/clou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3508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/>
          <p:nvPr/>
        </p:nvSpPr>
        <p:spPr>
          <a:xfrm>
            <a:off x="8778240" y="1993392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s-CO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5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8092440" y="2606040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FDC300"/>
              </a:buClr>
              <a:buSzPts val="1150"/>
            </a:pPr>
            <a:r>
              <a:rPr lang="es-CO" sz="1150" b="1" i="0" u="none" strike="noStrike" cap="none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s-CO" sz="115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 Gestión</a:t>
            </a:r>
            <a:r>
              <a:rPr lang="es-CO" sz="115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Integral de usuarios, roles y permisos (CRUD).</a:t>
            </a:r>
            <a:endParaRPr sz="115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8092440" y="3227832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1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Administración del catalogo: productos y categorías (CRUD).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8092440" y="3849624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1" i="0" u="none" strike="noStrike" cap="none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Configuración y administración de mesas del establecimiento. 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8092440" y="4471416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1" i="0" u="none" strike="noStrike" cap="none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Control y supervisión de </a:t>
            </a:r>
            <a:r>
              <a:rPr lang="es-CO" sz="1150" b="1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pedidos globales y facturación.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8092440" y="5093208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1" i="0" u="none" strike="noStrike" cap="none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Visualización de métricas, estadísticas y reportes del negocio.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CÓMO TRABAJAMOS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Metodología ágil: Scrum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2292E"/>
              </a:buClr>
              <a:buSzPts val="1350"/>
            </a:pPr>
            <a:r>
              <a:rPr lang="es-CO" sz="1200" dirty="0"/>
              <a:t>Desarrollo iterativo e incremental para integrar mejoras continuas en el sistema.</a:t>
            </a:r>
            <a:endParaRPr sz="13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548640" y="242316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713232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4" name="Google Shape;324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878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/>
          <p:nvPr/>
        </p:nvSpPr>
        <p:spPr>
          <a:xfrm>
            <a:off x="1417320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Sebastián Herrera Garces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1417320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Programador </a:t>
            </a:r>
            <a:r>
              <a:rPr lang="es-CO" sz="1050" b="1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/ Backend Dev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713232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lang="es-CO" sz="98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Construcción de la lógica de negocio, Jakarta Servlets, DAO y gestión de datos.</a:t>
            </a:r>
            <a:endParaRPr sz="98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4133088" y="242316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4297680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0326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/>
          <p:nvPr/>
        </p:nvSpPr>
        <p:spPr>
          <a:xfrm>
            <a:off x="5001768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Luis David Yate Pulido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5001768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39A900"/>
              </a:buClr>
              <a:buSzPts val="1050"/>
            </a:pPr>
            <a:r>
              <a:rPr lang="es-CO" sz="1050" b="1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Diseñador / Frontend Dev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4297680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980"/>
            </a:pPr>
            <a:r>
              <a:rPr lang="es-CO" sz="98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Diseño visual, maquetació</a:t>
            </a:r>
            <a:r>
              <a:rPr lang="es-CO" sz="98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n web responsive en JSP y experiencia de usuario (UX/UI)</a:t>
            </a:r>
            <a:endParaRPr sz="98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7717536" y="2423160"/>
            <a:ext cx="3429000" cy="1234500"/>
          </a:xfrm>
          <a:prstGeom prst="roundRect">
            <a:avLst>
              <a:gd name="adj" fmla="val 5926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7882128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6" name="Google Shape;336;p21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4774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/>
          <p:nvPr/>
        </p:nvSpPr>
        <p:spPr>
          <a:xfrm>
            <a:off x="8586216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Juan</a:t>
            </a:r>
            <a:r>
              <a:rPr lang="es-CO" sz="125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 David Ospina Villalobo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8586216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Analista / Scrum Master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7882128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lang="es-CO" sz="98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Análisis de información, diseño de arquitectura y priorización del desarrollo del proyecto.</a:t>
            </a:r>
            <a:endParaRPr sz="98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48640" y="39776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Fases del proyecto (6 meses)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54864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54864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216408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234696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234696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396240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414528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414528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576072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594360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594360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755904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774192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774192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935736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lang="es-CO" sz="1400" b="0" i="0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9540240" y="4434840"/>
            <a:ext cx="1615500" cy="594300"/>
          </a:xfrm>
          <a:prstGeom prst="roundRect">
            <a:avLst>
              <a:gd name="adj" fmla="val 9231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954024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s-CO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822960" y="5349240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"/>
          <p:cNvSpPr/>
          <p:nvPr/>
        </p:nvSpPr>
        <p:spPr>
          <a:xfrm>
            <a:off x="550165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ESPECIFICACIÓN DE REQUISITOS · IEEE 830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550165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Funcionalidades esenciales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550165" y="1572768"/>
            <a:ext cx="1060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300"/>
              <a:buFont typeface="Calibri"/>
              <a:buNone/>
            </a:pPr>
            <a:r>
              <a:rPr lang="es-CO" sz="1300" b="0" i="1" u="none" strike="noStrik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Los requisitos se documentaron bajo la norma IEEE 830, garantizando que cada funcionalidad fuera clara, completa y verificable.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55016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71475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9" name="Google Shape;369;p22" descr="icons/search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62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/>
          <p:nvPr/>
        </p:nvSpPr>
        <p:spPr>
          <a:xfrm>
            <a:off x="128168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RF01–02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71475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Autenticación y Usuarios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71475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1000"/>
            </a:pPr>
            <a:r>
              <a:rPr lang="es-CO" sz="1000" dirty="0"/>
              <a:t>Registro e inicio de sesión seguro con contraseñas cifradas. Gestión de usuarios, asignación de roles (Administrador, Mesero, Cajero) y estados (Activo, Inactivo, Suspendido).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432968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449427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22" descr="icons/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1314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/>
          <p:nvPr/>
        </p:nvSpPr>
        <p:spPr>
          <a:xfrm>
            <a:off x="506120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s-CO" sz="1050" b="1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F03-04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449427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Productos y Categorías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449427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1000"/>
            </a:pPr>
            <a:r>
              <a:rPr lang="es-CO" sz="1000" dirty="0"/>
              <a:t>Administración completa de productos (precio, descripción, estado de disponibilidad) y organización modular por categorías del menú. 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8109205" y="2103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827379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1" name="Google Shape;381;p22" descr="icons/car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9266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/>
          <p:nvPr/>
        </p:nvSpPr>
        <p:spPr>
          <a:xfrm>
            <a:off x="884072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s-CO" sz="1050" b="1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F05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827379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de Mesas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827379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1000"/>
            </a:pPr>
            <a:r>
              <a:rPr lang="es-CO" sz="1000" dirty="0"/>
              <a:t>Registro de mesas, asignación de capacidad e indicación de estado en tiempo real (Libre, Ocupada, Reservada) para la organización del salón.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5016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71475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7" name="Google Shape;387;p22" descr="icons/tags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362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2"/>
          <p:cNvSpPr/>
          <p:nvPr/>
        </p:nvSpPr>
        <p:spPr>
          <a:xfrm>
            <a:off x="128168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RF06-07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71475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Pedidos y Detalle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71475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1000"/>
            </a:pPr>
            <a:r>
              <a:rPr lang="es-CO" sz="1000" dirty="0"/>
              <a:t>Registro de órdenes asociadas a mesas, adición de productos, modificación de cantidades, notas especiales para cocina y seguimiento del estado del pedido.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432968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449427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3" name="Google Shape;393;p22" descr="icons/cog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14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2"/>
          <p:cNvSpPr/>
          <p:nvPr/>
        </p:nvSpPr>
        <p:spPr>
          <a:xfrm>
            <a:off x="506120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RF08-RF09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449427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Facturación y Pagos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449427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1000"/>
            </a:pPr>
            <a:r>
              <a:rPr lang="es-CO" sz="1000" dirty="0"/>
              <a:t>Generación de facturas con desglose de subtotal, impuestos y total. Registro de métodos de pago y actualización de estados (</a:t>
            </a:r>
            <a:r>
              <a:rPr lang="es-CO" sz="1000" i="1" dirty="0"/>
              <a:t>En cocina, Entregado, Pagado</a:t>
            </a:r>
            <a:r>
              <a:rPr lang="es-CO" sz="1000" dirty="0"/>
              <a:t>). 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109205" y="4389120"/>
            <a:ext cx="3505200" cy="2103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/>
          <p:nvPr/>
        </p:nvSpPr>
        <p:spPr>
          <a:xfrm>
            <a:off x="827379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9" name="Google Shape;399;p22" descr="icons/bell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9266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/>
          <p:nvPr/>
        </p:nvSpPr>
        <p:spPr>
          <a:xfrm>
            <a:off x="884072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lang="es-CO" sz="1050" b="1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RNF01-06 / Requerimientos No Funcionales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827379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lang="es-CO" sz="125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Calidad del sistema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827379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1000"/>
            </a:pPr>
            <a:r>
              <a:rPr lang="es-CO" sz="1000" b="1" dirty="0"/>
              <a:t>Usabilidad</a:t>
            </a:r>
            <a:r>
              <a:rPr lang="es-CO" sz="1000" dirty="0"/>
              <a:t> (interfaz intuitiva), </a:t>
            </a:r>
            <a:r>
              <a:rPr lang="es-CO" sz="1000" b="1" dirty="0"/>
              <a:t>Seguridad</a:t>
            </a:r>
            <a:r>
              <a:rPr lang="es-CO" sz="1000" dirty="0"/>
              <a:t> (cifrado y roles), </a:t>
            </a:r>
            <a:r>
              <a:rPr lang="es-CO" sz="1000" b="1" dirty="0"/>
              <a:t>Rendimiento</a:t>
            </a:r>
            <a:r>
              <a:rPr lang="es-CO" sz="1000" dirty="0"/>
              <a:t> rápido, </a:t>
            </a:r>
            <a:r>
              <a:rPr lang="es-CO" sz="1000" b="1" dirty="0"/>
              <a:t>Compatibilidad</a:t>
            </a:r>
            <a:r>
              <a:rPr lang="es-CO" sz="1000" dirty="0"/>
              <a:t> responsive (PC/móvil) y </a:t>
            </a:r>
            <a:r>
              <a:rPr lang="es-CO" sz="1000" b="1" dirty="0"/>
              <a:t>Mantenibilidad</a:t>
            </a:r>
            <a:r>
              <a:rPr lang="es-CO" sz="1000" dirty="0"/>
              <a:t>. 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 dirty="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Arquitectura y stack tecnológico</a:t>
            </a:r>
            <a:endParaRPr sz="3600" b="1" dirty="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548640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1975104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" name="Google Shape;410;p23" descr="icons/cod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3412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3"/>
          <p:cNvSpPr/>
          <p:nvPr/>
        </p:nvSpPr>
        <p:spPr>
          <a:xfrm>
            <a:off x="685800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685800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150"/>
            </a:pPr>
            <a:r>
              <a:rPr lang="es-CO" sz="115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JSP, JSTL/EL, Bootstrap 5.3.3, HTML5, CSS</a:t>
            </a:r>
            <a:endParaRPr sz="115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731520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endParaRPr sz="9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4133088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5559552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6" name="Google Shape;416;p23" descr="icons/serv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37860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3"/>
          <p:cNvSpPr/>
          <p:nvPr/>
        </p:nvSpPr>
        <p:spPr>
          <a:xfrm>
            <a:off x="4270248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4315968" y="3065556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Java (JDK 17), Jakarta Servlets, Patrón DAO, GlassFish / Tomcat</a:t>
            </a:r>
            <a:endParaRPr sz="115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4315968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endParaRPr sz="9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7717536" y="1645920"/>
            <a:ext cx="3538800" cy="2286000"/>
          </a:xfrm>
          <a:prstGeom prst="roundRect">
            <a:avLst>
              <a:gd name="adj" fmla="val 320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9144000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2" name="Google Shape;422;p23" descr="icons/databas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2308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3"/>
          <p:cNvSpPr/>
          <p:nvPr/>
        </p:nvSpPr>
        <p:spPr>
          <a:xfrm>
            <a:off x="7854696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7854696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s-CO" sz="115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PostgreSQL / Supabase</a:t>
            </a:r>
            <a:endParaRPr sz="115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7900416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endParaRPr sz="9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548640" y="411022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Servicios externos integrados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548640" y="4572000"/>
            <a:ext cx="2480400" cy="1627632"/>
          </a:xfrm>
          <a:prstGeom prst="roundRect">
            <a:avLst>
              <a:gd name="adj" fmla="val 53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156019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9" name="Google Shape;429;p23" descr="icons/clou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7906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3"/>
          <p:cNvSpPr/>
          <p:nvPr/>
        </p:nvSpPr>
        <p:spPr>
          <a:xfrm>
            <a:off x="64008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Cloudinary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685800" y="5657173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00" dirty="0"/>
              <a:t>Gestión y alojamiento dinámico de imágenes de productos y fotos de perfil.</a:t>
            </a:r>
            <a:endParaRPr sz="9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334899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334899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endParaRPr sz="9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605790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Pruebas de software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480000" y="1673322"/>
            <a:ext cx="5120700" cy="4526310"/>
          </a:xfrm>
          <a:prstGeom prst="roundRect">
            <a:avLst>
              <a:gd name="adj" fmla="val 1633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868680" y="192024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6" name="Google Shape;466;p26" descr="icons/vi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321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6"/>
          <p:cNvSpPr/>
          <p:nvPr/>
        </p:nvSpPr>
        <p:spPr>
          <a:xfrm>
            <a:off x="1600200" y="2034540"/>
            <a:ext cx="384048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700"/>
              <a:buFont typeface="Calibri"/>
              <a:buNone/>
            </a:pPr>
            <a:r>
              <a:rPr lang="es-CO" sz="17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Caja blanca (Pruebas Unitarias/</a:t>
            </a:r>
            <a:r>
              <a:rPr lang="es-CO" sz="1700" b="1" i="0" u="none" strike="noStrike" cap="none" dirty="0" err="1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lang="es-CO" sz="17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7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868680" y="2597721"/>
            <a:ext cx="4572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22292E"/>
              </a:buClr>
              <a:buSzPts val="1200"/>
            </a:pPr>
            <a:r>
              <a:rPr lang="es-CO" sz="1200" dirty="0"/>
              <a:t>Se valida la lógica interna de los métodos Java, Servlets y controladores DAO con datos de prueba.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868680" y="3208186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39A900"/>
              </a:buClr>
              <a:buSzPts val="1200"/>
            </a:pPr>
            <a:r>
              <a:rPr lang="es-CO" sz="12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1" dirty="0"/>
              <a:t>PU-1:</a:t>
            </a:r>
            <a:r>
              <a:rPr lang="es-CO" sz="1200" dirty="0"/>
              <a:t> Validación de autenticación, hash de contraseñas y permisos por rol (Administrador, Mesero, Cajero). 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868680" y="3681551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39A900"/>
              </a:buClr>
              <a:buSzPts val="1200"/>
            </a:pPr>
            <a:r>
              <a:rPr lang="es-CO" sz="12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1" dirty="0"/>
              <a:t>PU-2:</a:t>
            </a:r>
            <a:r>
              <a:rPr lang="es-CO" sz="1200" dirty="0"/>
              <a:t> Prueba de operaciones CRUD en controladores DAO (Usuarios, Productos, Categorías, Mesas).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868680" y="416607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39A900"/>
              </a:buClr>
              <a:buSzPts val="1200"/>
            </a:pPr>
            <a:r>
              <a:rPr lang="es-CO" sz="12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CO" sz="1200" b="1" dirty="0"/>
              <a:t>PU-3:</a:t>
            </a:r>
            <a:r>
              <a:rPr lang="es-CO" sz="1200" dirty="0"/>
              <a:t> Lógica de cálculo numérico de subtotales, IVA/impuestos y totales en facturación. 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868680" y="4707074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39A900"/>
              </a:buClr>
              <a:buSzPts val="1200"/>
            </a:pPr>
            <a:r>
              <a:rPr lang="es-CO" sz="12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1" dirty="0"/>
              <a:t>PU-4:</a:t>
            </a:r>
            <a:r>
              <a:rPr lang="es-CO" sz="1200" dirty="0"/>
              <a:t> Verificación del pool de conexiones con la base de datos PostgreSQL/Supabase y manejo de excepciones. 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868680" y="5227943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39A900"/>
              </a:buClr>
              <a:buSzPts val="1200"/>
            </a:pPr>
            <a:r>
              <a:rPr lang="es-CO" sz="120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s-CO" sz="1200" b="1" dirty="0"/>
              <a:t>PU-5:</a:t>
            </a:r>
            <a:r>
              <a:rPr lang="es-CO" sz="1200" dirty="0"/>
              <a:t> Lógica de cambio de estados del pedido (</a:t>
            </a:r>
            <a:r>
              <a:rPr lang="es-CO" sz="1200" i="1" dirty="0"/>
              <a:t>En cocina, Entregado, Cancelado, Pagado</a:t>
            </a:r>
            <a:r>
              <a:rPr lang="es-CO" sz="1200" dirty="0"/>
              <a:t>)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5943600" y="1645920"/>
            <a:ext cx="5696700" cy="4553712"/>
          </a:xfrm>
          <a:prstGeom prst="roundRect">
            <a:avLst>
              <a:gd name="adj" fmla="val 1633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6263640" y="1920240"/>
            <a:ext cx="594300" cy="5943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6" name="Google Shape;476;p26" descr="icons/chec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1817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6"/>
          <p:cNvSpPr/>
          <p:nvPr/>
        </p:nvSpPr>
        <p:spPr>
          <a:xfrm>
            <a:off x="6995160" y="2011680"/>
            <a:ext cx="438918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s-CO" sz="17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Caja negra (Pruebas Funcionales y de Usabilidad)</a:t>
            </a:r>
            <a:endParaRPr sz="17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6263640" y="2514600"/>
            <a:ext cx="5120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200"/>
              <a:buFont typeface="Calibri"/>
              <a:buNone/>
            </a:pPr>
            <a:r>
              <a:rPr lang="es-ES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Pruebas de interfaz y navegación ejecutadas en Google Chrome verificando los Requerimientos Funcionales (RF01 - RF09).</a:t>
            </a:r>
          </a:p>
        </p:txBody>
      </p:sp>
      <p:sp>
        <p:nvSpPr>
          <p:cNvPr id="479" name="Google Shape;479;p26"/>
          <p:cNvSpPr/>
          <p:nvPr/>
        </p:nvSpPr>
        <p:spPr>
          <a:xfrm>
            <a:off x="6263640" y="3335357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DC300"/>
              </a:buClr>
              <a:buSzPts val="1200"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ES" sz="12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PN-1: Flujo completo de inicio de sesión, control de sesión </a:t>
            </a:r>
            <a:r>
              <a:rPr lang="es-ES" sz="1200" b="1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anti-caché</a:t>
            </a:r>
            <a:r>
              <a:rPr lang="es-ES" sz="12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y cierre de sesión seguro.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6263640" y="3784455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DC300"/>
              </a:buClr>
              <a:buSzPts val="1200"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ES" sz="12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PN-2: Cambio dinámico de estado de mesas (Libre, Ocupada, Reservada) en la vista del salón.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6263640" y="4376728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DC300"/>
              </a:buClr>
              <a:buSzPts val="1200"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ES" sz="12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PN-3: Registro de pedidos, adición de productos con notas especiales y envío en tiempo real a cocina.</a:t>
            </a:r>
          </a:p>
          <a:p>
            <a:pPr lvl="0">
              <a:buClr>
                <a:srgbClr val="FDC300"/>
              </a:buClr>
              <a:buSzPts val="1200"/>
            </a:pP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6263640" y="4718184"/>
            <a:ext cx="5120700" cy="49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DC300"/>
              </a:buClr>
              <a:buSzPts val="1200"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ES" sz="12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PN-4: Generación de factura, aplicación de impuestos y registro del método de pago por el cajero.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82;p26">
            <a:extLst>
              <a:ext uri="{FF2B5EF4-FFF2-40B4-BE49-F238E27FC236}">
                <a16:creationId xmlns:a16="http://schemas.microsoft.com/office/drawing/2014/main" id="{CF35F77F-3827-DA1E-449A-E5EDA6F620D3}"/>
              </a:ext>
            </a:extLst>
          </p:cNvPr>
          <p:cNvSpPr/>
          <p:nvPr/>
        </p:nvSpPr>
        <p:spPr>
          <a:xfrm>
            <a:off x="6263640" y="5211960"/>
            <a:ext cx="5120700" cy="49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DC300"/>
              </a:buClr>
              <a:buSzPts val="1200"/>
            </a:pPr>
            <a:r>
              <a:rPr lang="es-CO" sz="12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s-ES" sz="12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PN-5: Verificación de la interfaz responsive en dispositivos móviles, </a:t>
            </a:r>
            <a:r>
              <a:rPr lang="es-ES" sz="1200" b="1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tablets</a:t>
            </a:r>
            <a:r>
              <a:rPr lang="es-ES" sz="12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y computadores (RNF04).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Conclusiones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6096000" y="3383279"/>
            <a:ext cx="5143500" cy="2619167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9" name="Google Shape;489;p27"/>
          <p:cNvSpPr/>
          <p:nvPr/>
        </p:nvSpPr>
        <p:spPr>
          <a:xfrm>
            <a:off x="627888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0" name="Google Shape;490;p27" descr="icons/che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341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7"/>
          <p:cNvSpPr/>
          <p:nvPr/>
        </p:nvSpPr>
        <p:spPr>
          <a:xfrm>
            <a:off x="7056120" y="3629194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Arquitectura y </a:t>
            </a: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Control Centralizado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7056120" y="4516848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B6670"/>
              </a:buClr>
              <a:buSzPts val="1100"/>
            </a:pPr>
            <a:r>
              <a:rPr lang="es-CO" dirty="0"/>
              <a:t>Se garantizó el cumplimiento de la norma IEEE 830 mediante la implementación de módulos CRUD completos para la gestión de usuarios, roles, catálogo de productos, categorías y mesas. La arquitectura desarrollada en Java con patrón DAO y PostgreSQL asegura la integridad, seguridad y persistencia de los datos. </a:t>
            </a:r>
            <a:endParaRPr lang="es-ES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548640" y="1698916"/>
            <a:ext cx="1069086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731520" y="2110396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27" descr="icons/lea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6054" y="2264930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7"/>
          <p:cNvSpPr/>
          <p:nvPr/>
        </p:nvSpPr>
        <p:spPr>
          <a:xfrm>
            <a:off x="1508760" y="1863508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Cumplimiento del Objetivo General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1508760" y="2201836"/>
            <a:ext cx="973074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1100"/>
            </a:pPr>
            <a:r>
              <a:rPr lang="es-CO" b="1" dirty="0"/>
              <a:t>SEDADA</a:t>
            </a:r>
            <a:r>
              <a:rPr lang="es-CO" dirty="0"/>
              <a:t> logró automatizar y optimizar exitosamente los procesos operativos y administrativos del restaurante. La digitalización de la toma de pedidos redujo los tiempos de espera y errores en cocina, brindando agilidad al mesero, simplificando la facturación para el cajero y otorgando al administrador control unificado del establecimiento en tiempo real. </a:t>
            </a:r>
            <a:endParaRPr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548640" y="3383280"/>
            <a:ext cx="5143500" cy="2619168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73152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0" name="Google Shape;500;p27" descr="icons/mob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605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7"/>
          <p:cNvSpPr/>
          <p:nvPr/>
        </p:nvSpPr>
        <p:spPr>
          <a:xfrm>
            <a:off x="1508760" y="3629194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Usabilidad y Compatibilidad (UX/UI)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1508760" y="4396136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1100"/>
            </a:pPr>
            <a:r>
              <a:rPr lang="es-CO" dirty="0"/>
              <a:t>Se diseñó una interfaz web intuitiva y completamente responsive (adaptable a celulares, tablets y computadores), cumpliendo el requerimiento RNF04. La plataforma fue validada positivamente por el personal del restaurante, facilitando la navegación, el control de mesas y el procesamiento fluido de pagos. </a:t>
            </a:r>
            <a:endParaRPr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822960" y="5257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1635</Words>
  <Application>Microsoft Office PowerPoint</Application>
  <PresentationFormat>Panorámica</PresentationFormat>
  <Paragraphs>178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Cambria</vt:lpstr>
      <vt:lpstr>Arial</vt:lpstr>
      <vt:lpstr>Work Sans</vt:lpstr>
      <vt:lpstr>Calibri</vt:lpstr>
      <vt:lpstr>Work Sans SemiBold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Aprendiz</dc:creator>
  <cp:lastModifiedBy>24A_9212109586</cp:lastModifiedBy>
  <cp:revision>15</cp:revision>
  <dcterms:modified xsi:type="dcterms:W3CDTF">2026-09-28T14:00:47Z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2026-09-16T11:41:59Z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2ccad39b-23f6-4438-bc16-cd504580f949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